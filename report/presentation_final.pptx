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Predicting Relative Article Popularity</a:t>
            </a:r>
          </a:p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Using Multimodal Transfer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CADCFC"/>
                </a:solidFill>
                <a:latin typeface="Calibri"/>
              </a:rPr>
              <a:t>Deep Learning Final Project — Technion DS 26-529625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5FE3D0"/>
                </a:solidFill>
                <a:latin typeface="Calibri"/>
              </a:rPr>
              <a:t>Yakir Cohen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mako.co.il  &amp;  n12.co.il  —  Keshet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28016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b="1">
                <a:solidFill>
                  <a:srgbClr val="0891B2"/>
                </a:solidFill>
                <a:latin typeface="Calibri"/>
              </a:rPr>
              <a:t>•  1.</a:t>
            </a:r>
            <a:r>
              <a:rPr sz="1800">
                <a:solidFill>
                  <a:srgbClr val="222222"/>
                </a:solidFill>
                <a:latin typeface="Calibri"/>
              </a:rPr>
              <a:t>  The problem &amp; why it's hard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b="1">
                <a:solidFill>
                  <a:srgbClr val="0891B2"/>
                </a:solidFill>
                <a:latin typeface="Calibri"/>
              </a:rPr>
              <a:t>•  2.</a:t>
            </a:r>
            <a:r>
              <a:rPr sz="1800">
                <a:solidFill>
                  <a:srgbClr val="222222"/>
                </a:solidFill>
                <a:latin typeface="Calibri"/>
              </a:rPr>
              <a:t>  Data &amp; evaluation metrics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b="1">
                <a:solidFill>
                  <a:srgbClr val="0891B2"/>
                </a:solidFill>
                <a:latin typeface="Calibri"/>
              </a:rPr>
              <a:t>•  3.</a:t>
            </a:r>
            <a:r>
              <a:rPr sz="1800">
                <a:solidFill>
                  <a:srgbClr val="222222"/>
                </a:solidFill>
                <a:latin typeface="Calibri"/>
              </a:rPr>
              <a:t>  Four baselines — isolating each input modality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b="1">
                <a:solidFill>
                  <a:srgbClr val="0891B2"/>
                </a:solidFill>
                <a:latin typeface="Calibri"/>
              </a:rPr>
              <a:t>•  4.</a:t>
            </a:r>
            <a:r>
              <a:rPr sz="1800">
                <a:solidFill>
                  <a:srgbClr val="222222"/>
                </a:solidFill>
                <a:latin typeface="Calibri"/>
              </a:rPr>
              <a:t>  Model 1: SigLIP2 staged fine-tuning + cross-attention fusion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b="1">
                <a:solidFill>
                  <a:srgbClr val="0891B2"/>
                </a:solidFill>
                <a:latin typeface="Calibri"/>
              </a:rPr>
              <a:t>•  5.</a:t>
            </a:r>
            <a:r>
              <a:rPr sz="1800">
                <a:solidFill>
                  <a:srgbClr val="222222"/>
                </a:solidFill>
                <a:latin typeface="Calibri"/>
              </a:rPr>
              <a:t>  Model 2: Hybrid AlephBERT + ResNet50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b="1">
                <a:solidFill>
                  <a:srgbClr val="0891B2"/>
                </a:solidFill>
                <a:latin typeface="Calibri"/>
              </a:rPr>
              <a:t>•  6.</a:t>
            </a:r>
            <a:r>
              <a:rPr sz="1800">
                <a:solidFill>
                  <a:srgbClr val="222222"/>
                </a:solidFill>
                <a:latin typeface="Calibri"/>
              </a:rPr>
              <a:t>  Final ablation table &amp; held-out test results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b="1">
                <a:solidFill>
                  <a:srgbClr val="0891B2"/>
                </a:solidFill>
                <a:latin typeface="Calibri"/>
              </a:rPr>
              <a:t>•  7.</a:t>
            </a:r>
            <a:r>
              <a:rPr sz="1800">
                <a:solidFill>
                  <a:srgbClr val="222222"/>
                </a:solidFill>
                <a:latin typeface="Calibri"/>
              </a:rPr>
              <a:t>  Live demo — scoring new headline/image pairs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b="1">
                <a:solidFill>
                  <a:srgbClr val="0891B2"/>
                </a:solidFill>
                <a:latin typeface="Calibri"/>
              </a:rPr>
              <a:t>•  8.</a:t>
            </a:r>
            <a:r>
              <a:rPr sz="1800">
                <a:solidFill>
                  <a:srgbClr val="222222"/>
                </a:solidFill>
                <a:latin typeface="Calibri"/>
              </a:rPr>
              <a:t>  Conclusions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Predicting Relative Article Popularity — Multimodal Transfer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28016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222222"/>
                </a:solidFill>
                <a:latin typeface="Calibri"/>
              </a:rPr>
              <a:t>Given only what an editor has before publishing — headline, thumbnail image, and site —</a:t>
            </a:r>
          </a:p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222222"/>
                </a:solidFill>
                <a:latin typeface="Calibri"/>
              </a:rPr>
              <a:t>predict whether the article will be a top performer.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0891B2"/>
                </a:solidFill>
                <a:latin typeface="Calibri"/>
              </a:rPr>
              <a:t>•  Input:</a:t>
            </a:r>
            <a:r>
              <a:rPr sz="1700">
                <a:solidFill>
                  <a:srgbClr val="222222"/>
                </a:solidFill>
                <a:latin typeface="Calibri"/>
              </a:rPr>
              <a:t>  headline + thumbnail image + site (mako / n12)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0891B2"/>
                </a:solidFill>
                <a:latin typeface="Calibri"/>
              </a:rPr>
              <a:t>•  Output:</a:t>
            </a:r>
            <a:r>
              <a:rPr sz="1700">
                <a:solidFill>
                  <a:srgbClr val="222222"/>
                </a:solidFill>
                <a:latin typeface="Calibri"/>
              </a:rPr>
              <a:t>  probability the article lands in the top 10% of page views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0891B2"/>
                </a:solidFill>
                <a:latin typeface="Calibri"/>
              </a:rPr>
              <a:t>•  Success is relative:</a:t>
            </a:r>
            <a:r>
              <a:rPr sz="1700">
                <a:solidFill>
                  <a:srgbClr val="222222"/>
                </a:solidFill>
                <a:latin typeface="Calibri"/>
              </a:rPr>
              <a:t>  top 10% within the same site, same calendar month — not a fixed traffic threshold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0891B2"/>
                </a:solidFill>
                <a:latin typeface="Calibri"/>
              </a:rPr>
              <a:t>•  Why relative?</a:t>
            </a:r>
            <a:r>
              <a:rPr sz="1700">
                <a:solidFill>
                  <a:srgbClr val="222222"/>
                </a:solidFill>
                <a:latin typeface="Calibri"/>
              </a:rPr>
              <a:t>  mako vs n12 traffic differs hugely; traffic swings by season/news cycle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0891B2"/>
                </a:solidFill>
                <a:latin typeface="Calibri"/>
              </a:rPr>
              <a:t>•  Use case:</a:t>
            </a:r>
            <a:r>
              <a:rPr sz="1700">
                <a:solidFill>
                  <a:srgbClr val="222222"/>
                </a:solidFill>
                <a:latin typeface="Calibri"/>
              </a:rPr>
              <a:t>  editorial decision-support — flag a promising headline/thumbnail before it goes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Predicting Relative Article Popularity — Multimodal Transfer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Does the thumbnail image add predictive value</a:t>
            </a:r>
          </a:p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beyond the headline alone?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2062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1">
                <a:solidFill>
                  <a:srgbClr val="CADCFC"/>
                </a:solidFill>
                <a:latin typeface="Calibri"/>
              </a:rPr>
              <a:t>Not obvious a priori — headlines are information-dense; thumbnails are often generic stock images.</a:t>
            </a:r>
          </a:p>
          <a:p>
            <a:pPr algn="ctr">
              <a:lnSpc>
                <a:spcPct val="115000"/>
              </a:lnSpc>
            </a:pPr>
            <a:r>
              <a:rPr sz="1600" b="0" i="1">
                <a:solidFill>
                  <a:srgbClr val="CADCFC"/>
                </a:solidFill>
                <a:latin typeface="Calibri"/>
              </a:rPr>
              <a:t>This is the question the whole project is organized around.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Predicting Relative Article Popularity — Multimodal Transfer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28016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Rows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Positive rate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2024-01 – 2026-04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87,334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~10.0%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2026-05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3,722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~10.0%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Test (held-out)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2026-06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3,745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~10.0%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2918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891B2"/>
                </a:solidFill>
                <a:latin typeface="Calibri"/>
              </a:rPr>
              <a:t>•  Time-based split:</a:t>
            </a:r>
            <a:r>
              <a:rPr sz="1600">
                <a:solidFill>
                  <a:srgbClr val="222222"/>
                </a:solidFill>
                <a:latin typeface="Calibri"/>
              </a:rPr>
              <a:t>  prevents leakage from near-duplicate/related articles across train/val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891B2"/>
                </a:solidFill>
                <a:latin typeface="Calibri"/>
              </a:rPr>
              <a:t>•  Source:</a:t>
            </a:r>
            <a:r>
              <a:rPr sz="1600">
                <a:solidFill>
                  <a:srgbClr val="222222"/>
                </a:solidFill>
                <a:latin typeface="Calibri"/>
              </a:rPr>
              <a:t>  Keshet's internal Snowflake page-view warehouse (mako.co.il, n12.co.il)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891B2"/>
                </a:solidFill>
                <a:latin typeface="Calibri"/>
              </a:rPr>
              <a:t>•  Images:</a:t>
            </a:r>
            <a:r>
              <a:rPr sz="1600">
                <a:solidFill>
                  <a:srgbClr val="222222"/>
                </a:solidFill>
                <a:latin typeface="Calibri"/>
              </a:rPr>
              <a:t>  71,536 / 71,546 thumbnail URLs downloaded successfully (99.99%)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891B2"/>
                </a:solidFill>
                <a:latin typeface="Calibri"/>
              </a:rPr>
              <a:t>•  No tags:</a:t>
            </a:r>
            <a:r>
              <a:rPr sz="1600">
                <a:solidFill>
                  <a:srgbClr val="222222"/>
                </a:solidFill>
                <a:latin typeface="Calibri"/>
              </a:rPr>
              <a:t>  49.5% of articles have none — excluded from the core model entirely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Predicting Relative Article Popularity — Multimodal Transfer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Data Quality Finding: Image Resolution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28016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0392B"/>
                </a:solidFill>
                <a:latin typeface="Calibri"/>
              </a:rPr>
              <a:t>The stored thumbnail URL resolves to a tiny 82x62px image by default — not the original.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2468880"/>
          <a:ext cx="85039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Resolution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Share of dataset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Full resolution (URL suffix stripped)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original, up to 1000s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60.8%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Fallback variant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232 x 175 px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35.1%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Thumbnail only (both above missing)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82 x 62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5720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6B7280"/>
                </a:solidFill>
                <a:latin typeface="Calibri"/>
              </a:rPr>
              <a:t>This resolution variance was later used as a controlled variable in one experiment (Model 1: full-res-only filtering). A good example of a real-world data issue only discovered mid-project, not during planning.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Predicting Relative Article Popularity — Multimodal Transfer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Evaluation Metrics — Why Not Just Accuracy?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28016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C0392B"/>
                </a:solidFill>
                <a:latin typeface="Calibri"/>
              </a:rPr>
              <a:t>~10% positive rate: a model that always predicts “no” scores 90% accuracy and is useless.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 b="1">
                <a:solidFill>
                  <a:srgbClr val="0891B2"/>
                </a:solidFill>
                <a:latin typeface="Calibri"/>
              </a:rPr>
              <a:t>•  ROC-AUC:</a:t>
            </a:r>
            <a:r>
              <a:rPr sz="1700">
                <a:solidFill>
                  <a:srgbClr val="222222"/>
                </a:solidFill>
                <a:latin typeface="Calibri"/>
              </a:rPr>
              <a:t>  P(random positive scored higher than random negative). Random = 0.5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 b="1">
                <a:solidFill>
                  <a:srgbClr val="0891B2"/>
                </a:solidFill>
                <a:latin typeface="Calibri"/>
              </a:rPr>
              <a:t>•  PR-AUC (primary metric):</a:t>
            </a:r>
            <a:r>
              <a:rPr sz="1700">
                <a:solidFill>
                  <a:srgbClr val="222222"/>
                </a:solidFill>
                <a:latin typeface="Calibri"/>
              </a:rPr>
              <a:t>  area under precision/recall curve. Random ≈ base rate (≈0.10 here)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 b="1">
                <a:solidFill>
                  <a:srgbClr val="0891B2"/>
                </a:solidFill>
                <a:latin typeface="Calibri"/>
              </a:rPr>
              <a:t>•  F1:</a:t>
            </a:r>
            <a:r>
              <a:rPr sz="1700">
                <a:solidFill>
                  <a:srgbClr val="222222"/>
                </a:solidFill>
                <a:latin typeface="Calibri"/>
              </a:rPr>
              <a:t>  single-threshold balance of precision &amp; recall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 b="1">
                <a:solidFill>
                  <a:srgbClr val="0891B2"/>
                </a:solidFill>
                <a:latin typeface="Calibri"/>
              </a:rPr>
              <a:t>•  Precision@K:</a:t>
            </a:r>
            <a:r>
              <a:rPr sz="1700">
                <a:solidFill>
                  <a:srgbClr val="222222"/>
                </a:solidFill>
                <a:latin typeface="Calibri"/>
              </a:rPr>
              <a:t>  of the top-K most confident predictions, how many are true positives — closest to the actual editorial ranking use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Predicting Relative Article Popularity — Multimodal Transfer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Four Baselines — Isolating Each Modality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28016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Inputs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tfidf_logreg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0.208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text_only_bert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title (+tags)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0.704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0.212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0.248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image_only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0.229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title_image_frozen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title+image (naive concat)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0.619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0.147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0.214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02336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222222"/>
                </a:solidFill>
                <a:latin typeface="Calibri"/>
              </a:rPr>
              <a:t>Key finding: naively concatenating frozen embeddings is NO BETTER than image alone, and WORSE than text alone. Two signals not trained together don't combine — the weak signal dilutes the strong one. This is the strongest justification for jointly-trained architectures.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Predicting Relative Article Popularity — Multimodal Transfer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Model 1: SigLIP2 — Vision-Language Backbone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28016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Pretrained on hundreds of millions of (image, caption) pairs — contrastive learning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Text and images already share one embedding space before we touch it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Zero-shot Hebrew diagnostic (950 pairs, no fine-tuning): ~28x random baseline retrieval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E2761"/>
                </a:solidFill>
                <a:latin typeface="Calibri"/>
              </a:rPr>
              <a:t>Staged fine-tuning — how much to let the pretrained model move: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0891B2"/>
                </a:solidFill>
                <a:latin typeface="Calibri"/>
              </a:rPr>
              <a:t>•  Stage A — frozen:</a:t>
            </a:r>
            <a:r>
              <a:rPr sz="1600">
                <a:solidFill>
                  <a:srgbClr val="222222"/>
                </a:solidFill>
                <a:latin typeface="Calibri"/>
              </a:rPr>
              <a:t>  only a small head trains (395K params, 0.11%)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0891B2"/>
                </a:solidFill>
                <a:latin typeface="Calibri"/>
              </a:rPr>
              <a:t>•  Stage B — unfreeze top 4 layers:</a:t>
            </a:r>
            <a:r>
              <a:rPr sz="1600">
                <a:solidFill>
                  <a:srgbClr val="222222"/>
                </a:solidFill>
                <a:latin typeface="Calibri"/>
              </a:rPr>
              <a:t>  57.1M params (15.2%) — overfits fast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0891B2"/>
                </a:solidFill>
                <a:latin typeface="Calibri"/>
              </a:rPr>
              <a:t>•  Stage C — LoRA (r=8):</a:t>
            </a:r>
            <a:r>
              <a:rPr sz="1600">
                <a:solidFill>
                  <a:srgbClr val="222222"/>
                </a:solidFill>
                <a:latin typeface="Calibri"/>
              </a:rPr>
              <a:t>  ~986K params (0.28%) — parameter-efficient middle 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Predicting Relative Article Popularity — Multimodal Transfer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SigLIP2 Staged Fine-Tuning —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28016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Trainable params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A — frozen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395.8K (0.11%)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0.651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0.167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Below text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B — unfreeze 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57.1M (15.2%)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Overfits by epoch 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C — LoRA r=8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986K (0.28%)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0.659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0.184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Best of the 3, 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38328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222222"/>
                </a:solidFill>
                <a:latin typeface="Calibri"/>
              </a:rPr>
              <a:t>None beat text_only_bert (0.704 / 0.212). Stage B's fast collapse vs. Stage C's stability is the classic overfitting pattern: 57M trainable params on ~87K training rows memorizes the training set; LoRA's ~1M params generalize far better for comparable adaptation capacity.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222222"/>
                </a:solidFill>
                <a:latin typeface="Calibri"/>
              </a:rPr>
              <a:t>This motivated the next question: is it backbone capacity, or how text and image are fused, that's the bottleneck?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Predicting Relative Article Popularity — Multimodal Transfer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Adding Cross-Attention Fusion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28016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891B2"/>
                </a:solidFill>
                <a:latin typeface="Calibri"/>
              </a:rPr>
              <a:t>Attention(Q, K, V) = softmax( QKᵀ / √d_k ) · 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Instead of comparing two pre-summarized vectors (concatenation)...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...let pooled text “query” the image's 196 raw patch tokens directly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...and symmetrically let pooled image query the raw text tokens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Implemented via nn.MultiheadAttention, bidirectionally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Predicting Relative Article Popularity — Multimodal Transfer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The Right Way to Test It: One Variable at a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28016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 b="1">
                <a:solidFill>
                  <a:srgbClr val="0891B2"/>
                </a:solidFill>
                <a:latin typeface="Calibri"/>
              </a:rPr>
              <a:t>•  First attempt (Model 1):</a:t>
            </a:r>
            <a:r>
              <a:rPr sz="1700">
                <a:solidFill>
                  <a:srgbClr val="222222"/>
                </a:solidFill>
                <a:latin typeface="Calibri"/>
              </a:rPr>
              <a:t>  changed fusion AND capacity AND filtered the data, all at once — regressed, but couldn't tell why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 b="1">
                <a:solidFill>
                  <a:srgbClr val="0891B2"/>
                </a:solidFill>
                <a:latin typeface="Calibri"/>
              </a:rPr>
              <a:t>•  Controlled follow-up (Model 1b):</a:t>
            </a:r>
            <a:r>
              <a:rPr sz="1700">
                <a:solidFill>
                  <a:srgbClr val="222222"/>
                </a:solidFill>
                <a:latin typeface="Calibri"/>
              </a:rPr>
              <a:t>  identical capacity &amp; data to Stage C — the ONLY difference is fusion type</a:t>
            </a:r>
          </a:p>
        </p:txBody>
      </p:sp>
      <p:pic>
        <p:nvPicPr>
          <p:cNvPr id="5" name="Picture 4" descr="fig2_fusion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3566160"/>
            <a:ext cx="4903470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Predicting Relative Article Popularity — Multimodal Transfer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Clean Result: Fusion Wasn't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28016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Fusion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Capacity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Stage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Concat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LoRA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0.659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0.184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Model 1b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Cross-Attn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LoRA only (matched)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0.643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0.179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Model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Cross-Attn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unfreeze+LoRA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filtered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0.625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0.161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93192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22222"/>
                </a:solidFill>
                <a:latin typeface="Calibri"/>
              </a:rPr>
              <a:t>Model 1b (matched capacity/data) is close to but consistently below Stage C — a clean, isolated result. The cross-attention mechanism itself was NOT the problem in Model 1 — the added trainable capacity and reduced dataset were.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Predicting Relative Article Popularity — Multimodal Transfer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Model 2: Hybrid — AlephBERT + ResNet50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28016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0891B2"/>
                </a:solidFill>
                <a:latin typeface="Calibri"/>
              </a:rPr>
              <a:t>•  Different bet:</a:t>
            </a:r>
            <a:r>
              <a:rPr sz="1700">
                <a:solidFill>
                  <a:srgbClr val="222222"/>
                </a:solidFill>
                <a:latin typeface="Calibri"/>
              </a:rPr>
              <a:t>  two backbones never jointly pretrained (unlike SigLIP2)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0891B2"/>
                </a:solidFill>
                <a:latin typeface="Calibri"/>
              </a:rPr>
              <a:t>•  Text:</a:t>
            </a:r>
            <a:r>
              <a:rPr sz="1700">
                <a:solidFill>
                  <a:srgbClr val="222222"/>
                </a:solidFill>
                <a:latin typeface="Calibri"/>
              </a:rPr>
              <a:t>  AlephBERT — Hebrew-specific, not multilingual-but-English-heavy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0891B2"/>
                </a:solidFill>
                <a:latin typeface="Calibri"/>
              </a:rPr>
              <a:t>•  Image:</a:t>
            </a:r>
            <a:r>
              <a:rPr sz="1700">
                <a:solidFill>
                  <a:srgbClr val="222222"/>
                </a:solidFill>
                <a:latin typeface="Calibri"/>
              </a:rPr>
              <a:t>  ResNet50, ImageNet-pretrained, global-average-pooled features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0891B2"/>
                </a:solidFill>
                <a:latin typeface="Calibri"/>
              </a:rPr>
              <a:t>•  Fusion:</a:t>
            </a:r>
            <a:r>
              <a:rPr sz="1700">
                <a:solidFill>
                  <a:srgbClr val="222222"/>
                </a:solidFill>
                <a:latin typeface="Calibri"/>
              </a:rPr>
              <a:t>  concatenation + small MLP — cross-attention deliberately skipped (Slide 13's result)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6B7280"/>
                </a:solidFill>
                <a:latin typeface="Calibri"/>
              </a:rPr>
              <a:t>Hypothesis: maybe the bottleneck wasn't fusion sophistication — maybe it was using a multilingual text encoder for a Hebrew-only task.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Predicting Relative Article Popularity — Multimodal Transfer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The Tuning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28016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1_hybrid_tu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280160"/>
            <a:ext cx="6537960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6B7280"/>
                </a:solidFill>
                <a:latin typeface="Calibri"/>
              </a:rPr>
              <a:t>v1 overfits early; exp07 (tuned) climbs steadily past the text baseline; exp08 improves on v1 but plateaus below exp07.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Predicting Relative Article Popularity — Multimodal Transfer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What Changed at Each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28016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891B2"/>
                </a:solidFill>
                <a:latin typeface="Calibri"/>
              </a:rPr>
              <a:t>•  v1 (exp06):</a:t>
            </a:r>
            <a:r>
              <a:rPr sz="1600">
                <a:solidFill>
                  <a:srgbClr val="222222"/>
                </a:solidFill>
                <a:latin typeface="Calibri"/>
              </a:rPr>
              <a:t>  peaks epoch 1 (0.660/0.212), overfits steadily after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891B2"/>
                </a:solidFill>
                <a:latin typeface="Calibri"/>
              </a:rPr>
              <a:t>•  First tuning attempt:</a:t>
            </a:r>
            <a:r>
              <a:rPr sz="1600">
                <a:solidFill>
                  <a:srgbClr val="222222"/>
                </a:solidFill>
                <a:latin typeface="Calibri"/>
              </a:rPr>
              <a:t>  early-stopping patience left uncalibrated after switching to finer eval frequency — stopped right as ROC-AUC hit a new high. A real bug, caught and fixed.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891B2"/>
                </a:solidFill>
                <a:latin typeface="Calibri"/>
              </a:rPr>
              <a:t>•  exp07 (best):</a:t>
            </a:r>
            <a:r>
              <a:rPr sz="1600">
                <a:solidFill>
                  <a:srgbClr val="222222"/>
                </a:solidFill>
                <a:latin typeface="Calibri"/>
              </a:rPr>
              <a:t>  ResNet fully frozen + higher weight decay + fixed patience — completes all 10 epochs, no collapse. ROC-AUC 0.693, PR-AUC 0.240 — beats text_only_bert!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891B2"/>
                </a:solidFill>
                <a:latin typeface="Calibri"/>
              </a:rPr>
              <a:t>•  exp08:</a:t>
            </a:r>
            <a:r>
              <a:rPr sz="1600">
                <a:solidFill>
                  <a:srgbClr val="222222"/>
                </a:solidFill>
                <a:latin typeface="Calibri"/>
              </a:rPr>
              <a:t>  tried recovering ResNet capacity with augmentation — improved on v1 (0.674/0.222) but didn't beat exp07. exp07 stays final.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Predicting Relative Article Popularity — Multimodal Transfer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Final Ablation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28016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Inputs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Title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0.208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Title (+tags)*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0.704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0.212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Image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Title + image (naive)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0.619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0.147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Full model (title+image+site)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0.693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0624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6B7280"/>
                </a:solidFill>
                <a:latin typeface="Calibri"/>
              </a:rPr>
              <a:t>*No model ever used tags — kept for the table's canonical shape. Cleanest read: full model (0.240) vs. text_only_bert (0.212) on PR-AUC — the image appears to help.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Predicting Relative Article Popularity — Multimodal Transfer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C0392B"/>
                </a:solidFill>
                <a:latin typeface="Cambria"/>
              </a:rPr>
              <a:t>The Honest Part: Held-Out Test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28016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3_val_vs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280160"/>
            <a:ext cx="6092188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2120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222222"/>
                </a:solidFill>
                <a:latin typeface="Calibri"/>
              </a:rPr>
              <a:t>Val PR-AUC 0.240 → Test PR-AUC 0.212 — the advantage over the text baseline nearly vanishes. ROC-AUC actually improves slightly (0.693→0.697).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Predicting Relative Article Popularity — Multimodal Transfer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Why the val → test gap?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920240"/>
            <a:ext cx="9784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 b="1">
                <a:solidFill>
                  <a:srgbClr val="0891B2"/>
                </a:solidFill>
                <a:latin typeface="Calibri"/>
              </a:rPr>
              <a:t>•  Not classic overfitting:</a:t>
            </a:r>
            <a:r>
              <a:rPr sz="1700">
                <a:solidFill>
                  <a:srgbClr val="CADCFC"/>
                </a:solidFill>
                <a:latin typeface="Calibri"/>
              </a:rPr>
              <a:t>  ROC-AUC held up — the model's general ranking ability is fine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 b="1">
                <a:solidFill>
                  <a:srgbClr val="0891B2"/>
                </a:solidFill>
                <a:latin typeface="Calibri"/>
              </a:rPr>
              <a:t>•  Selection bias instead:</a:t>
            </a:r>
            <a:r>
              <a:rPr sz="1700">
                <a:solidFill>
                  <a:srgbClr val="CADCFC"/>
                </a:solidFill>
                <a:latin typeface="Calibri"/>
              </a:rPr>
              <a:t>  exp06→exp07→exp08 — every tuning decision was made watching the SAME ~3,700-row validation set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 b="1">
                <a:solidFill>
                  <a:srgbClr val="0891B2"/>
                </a:solidFill>
                <a:latin typeface="Calibri"/>
              </a:rPr>
              <a:t>•  The mechanism:</a:t>
            </a:r>
            <a:r>
              <a:rPr sz="1700">
                <a:solidFill>
                  <a:srgbClr val="CADCFC"/>
                </a:solidFill>
                <a:latin typeface="Calibri"/>
              </a:rPr>
              <a:t>  repeatedly picking the “best” config against one small validation set systematically favors configs that got a bit lucky on it, not just genuinely better ones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 b="1">
                <a:solidFill>
                  <a:srgbClr val="0891B2"/>
                </a:solidFill>
                <a:latin typeface="Calibri"/>
              </a:rPr>
              <a:t>•  Lesson:</a:t>
            </a:r>
            <a:r>
              <a:rPr sz="1700">
                <a:solidFill>
                  <a:srgbClr val="CADCFC"/>
                </a:solidFill>
                <a:latin typeface="Calibri"/>
              </a:rPr>
              <a:t>  a test set touched exactly once, at the very end, is what actually corrects for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Predicting Relative Article Popularity — Multimodal Transfer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Live Demo: Scoring New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28016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src/inference/predict.py — score one new (headline, image, site) triple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src/inference/compare_ab.py — score two candidates, see which the model prefers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E2761"/>
                </a:solidFill>
                <a:latin typeface="Menlo"/>
              </a:rPr>
              <a:t>python -m src.inference.compare_ab --site mako \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E2761"/>
                </a:solidFill>
                <a:latin typeface="Menlo"/>
              </a:rPr>
              <a:t>--headline-a "..." --image-a a.jpg \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E2761"/>
                </a:solidFill>
                <a:latin typeface="Menlo"/>
              </a:rPr>
              <a:t>--headline-b "..." --image-b b.jpg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6B7280"/>
                </a:solidFill>
                <a:latin typeface="Calibri"/>
              </a:rPr>
              <a:t>Validation idea: run this on real internal A/B test variants with known winners — does the model's preferred variant match what actually won in production?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Predicting Relative Article Popularity — Multimodal Transfer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28016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891B2"/>
                </a:solidFill>
                <a:latin typeface="Calibri"/>
              </a:rPr>
              <a:t>•  Does the image help?</a:t>
            </a:r>
            <a:r>
              <a:rPr sz="1600">
                <a:solidFill>
                  <a:srgbClr val="222222"/>
                </a:solidFill>
                <a:latin typeface="Calibri"/>
              </a:rPr>
              <a:t>  Modestly, not conclusively — real signal on validation, largely erased on test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891B2"/>
                </a:solidFill>
                <a:latin typeface="Calibri"/>
              </a:rPr>
              <a:t>•  Naive fusion actively hurts:</a:t>
            </a:r>
            <a:r>
              <a:rPr sz="1600">
                <a:solidFill>
                  <a:srgbClr val="222222"/>
                </a:solidFill>
                <a:latin typeface="Calibri"/>
              </a:rPr>
              <a:t>  concatenating frozen embeddings is worse than text alone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891B2"/>
                </a:solidFill>
                <a:latin typeface="Calibri"/>
              </a:rPr>
              <a:t>•  Fusion mechanism wasn't the bottleneck:</a:t>
            </a:r>
            <a:r>
              <a:rPr sz="1600">
                <a:solidFill>
                  <a:srgbClr val="222222"/>
                </a:solidFill>
                <a:latin typeface="Calibri"/>
              </a:rPr>
              <a:t>  isolated test showed cross-attention ≈ concat at matched capacity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891B2"/>
                </a:solidFill>
                <a:latin typeface="Calibri"/>
              </a:rPr>
              <a:t>•  Language-appropriate text encoder mattered most:</a:t>
            </a:r>
            <a:r>
              <a:rPr sz="1600">
                <a:solidFill>
                  <a:srgbClr val="222222"/>
                </a:solidFill>
                <a:latin typeface="Calibri"/>
              </a:rPr>
              <a:t>  AlephBERT (Hebrew-specific) beat SigLIP2 (multilingual) as the deciding factor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891B2"/>
                </a:solidFill>
                <a:latin typeface="Calibri"/>
              </a:rPr>
              <a:t>•  Methodology lesson:</a:t>
            </a:r>
            <a:r>
              <a:rPr sz="1600">
                <a:solidFill>
                  <a:srgbClr val="222222"/>
                </a:solidFill>
                <a:latin typeface="Calibri"/>
              </a:rPr>
              <a:t>  repeated validation-based tuning inflates apparent gains — a real held-out test set is what keeps you honest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Predicting Relative Article Popularity — Multimodal Transfer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Limitations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28016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Single val/test month — can't separate month-to-month noise from real signal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Tags excluded entirely — their marginal value was never measured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Thumbnail quality varies; only controlled for in one experiment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One random seed per config — no variance estimate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Future: multiple test months, tags as a 5th ablation arm, cross-attention at matched capacity across a wider sweep, multi-seed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Predicting Relative Article Popularity — Multimodal Transfer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5FE3D0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